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d3b698f5024082" /><Relationship Type="http://schemas.openxmlformats.org/officeDocument/2006/relationships/extended-properties" Target="/docProps/app.xml" Id="Rdaaea7b81c884d67" /><Relationship Type="http://schemas.openxmlformats.org/officeDocument/2006/relationships/officeDocument" Target="/ppt/presentation.xml" Id="R596d2fae101245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01025564244691"/>
  </p:sldMasterIdLst>
  <p:notesMasterIdLst>
    <p:notesMasterId xmlns:r="http://schemas.openxmlformats.org/officeDocument/2006/relationships" r:id="R946e269b52a142f0"/>
  </p:notesMasterIdLst>
  <p:sldIdLst>
    <p:sldId xmlns:r="http://schemas.openxmlformats.org/officeDocument/2006/relationships" id="256" r:id="R244bc6e359644aed"/>
    <p:sldId xmlns:r="http://schemas.openxmlformats.org/officeDocument/2006/relationships" id="257" r:id="Rd5a655571a394fcb"/>
    <p:sldId xmlns:r="http://schemas.openxmlformats.org/officeDocument/2006/relationships" id="258" r:id="R237187a991bc44be"/>
    <p:sldId xmlns:r="http://schemas.openxmlformats.org/officeDocument/2006/relationships" id="259" r:id="R112ef1623c094191"/>
    <p:sldId xmlns:r="http://schemas.openxmlformats.org/officeDocument/2006/relationships" id="260" r:id="Rfe72ee201c064ac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b04f066cb343d5" /><Relationship Type="http://schemas.openxmlformats.org/officeDocument/2006/relationships/slideMaster" Target="/ppt/slideMasters/slideMaster1.xml" Id="Rda01025564244691" /><Relationship Type="http://schemas.openxmlformats.org/officeDocument/2006/relationships/notesMaster" Target="/ppt/notesMasters/notesMaster1.xml" Id="R946e269b52a142f0" /><Relationship Type="http://schemas.openxmlformats.org/officeDocument/2006/relationships/presProps" Target="/ppt/presProps.xml" Id="R0befda08d3cc4ade" /><Relationship Type="http://schemas.openxmlformats.org/officeDocument/2006/relationships/tableStyles" Target="/ppt/tableStyles.xml" Id="Rf8c5b3eb00084a6f" /><Relationship Type="http://schemas.openxmlformats.org/officeDocument/2006/relationships/slide" Target="/ppt/slides/slide1.xml" Id="R244bc6e359644aed" /><Relationship Type="http://schemas.openxmlformats.org/officeDocument/2006/relationships/slide" Target="/ppt/slides/slide2.xml" Id="Rd5a655571a394fcb" /><Relationship Type="http://schemas.openxmlformats.org/officeDocument/2006/relationships/slide" Target="/ppt/slides/slide3.xml" Id="R237187a991bc44be" /><Relationship Type="http://schemas.openxmlformats.org/officeDocument/2006/relationships/slide" Target="/ppt/slides/slide4.xml" Id="R112ef1623c094191" /><Relationship Type="http://schemas.openxmlformats.org/officeDocument/2006/relationships/slide" Target="/ppt/slides/slide5.xml" Id="Rfe72ee201c064a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6c2e557f7247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8b1df5f91a4399" /><Relationship Type="http://schemas.openxmlformats.org/officeDocument/2006/relationships/notesMaster" Target="/ppt/notesMasters/notesMaster1.xml" Id="R16e54521eb9747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860a5f8a6049ff" /><Relationship Type="http://schemas.openxmlformats.org/officeDocument/2006/relationships/notesMaster" Target="/ppt/notesMasters/notesMaster1.xml" Id="Redf77cfc836e4d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40da39f05147cd" /><Relationship Type="http://schemas.openxmlformats.org/officeDocument/2006/relationships/notesMaster" Target="/ppt/notesMasters/notesMaster1.xml" Id="Rd4b2d4cc22754e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074c358a68488f" /><Relationship Type="http://schemas.openxmlformats.org/officeDocument/2006/relationships/notesMaster" Target="/ppt/notesMasters/notesMaster1.xml" Id="R7130fbc7c0484a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48a5fbc8d14790" /><Relationship Type="http://schemas.openxmlformats.org/officeDocument/2006/relationships/notesMaster" Target="/ppt/notesMasters/notesMaster1.xml" Id="R75bf09a0d2824f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3e7f903c6747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a84b1b803e4208" /><Relationship Type="http://schemas.openxmlformats.org/officeDocument/2006/relationships/slideLayout" Target="/ppt/slideLayouts/slideLayout1.xml" Id="R154ed8e511a048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4ed8e511a048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b9124f2814a56" /><Relationship Type="http://schemas.openxmlformats.org/officeDocument/2006/relationships/image" Target="/ppt/media/image.jpeg" Id="R3e7cf58633314650" /><Relationship Type="http://schemas.openxmlformats.org/officeDocument/2006/relationships/notesSlide" Target="/ppt/notesSlides/notesSlide1.xml" Id="Rc26b82f97ec245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0e2308e814f0f" /><Relationship Type="http://schemas.openxmlformats.org/officeDocument/2006/relationships/notesSlide" Target="/ppt/notesSlides/notesSlide2.xml" Id="R1e49717ce74f41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403cf702a4ba2" /><Relationship Type="http://schemas.openxmlformats.org/officeDocument/2006/relationships/notesSlide" Target="/ppt/notesSlides/notesSlide3.xml" Id="R70d5109074a440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b4b42e0e84b82" /><Relationship Type="http://schemas.openxmlformats.org/officeDocument/2006/relationships/notesSlide" Target="/ppt/notesSlides/notesSlide4.xml" Id="Rdab04907889e4b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358db82634808" /><Relationship Type="http://schemas.openxmlformats.org/officeDocument/2006/relationships/notesSlide" Target="/ppt/notesSlides/notesSlide5.xml" Id="Rfb5b66e93bcd4c4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27589EC-2F1E-4D0C-B647-0733A0B9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UIPATH AGENTHACK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DC87FD9-30F0-4A49-B121-C9771800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Enterprise AI Orchestrator for UiPath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1F54A39-BC58-4716-B5F2-EE98AE2E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14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Human-governed agentic QA orchestration for enterprise release risk.</a:t>
            </a:r>
          </a:p>
        </p:txBody>
      </p:sp>
      <p:sp>
        <p:nvSpPr>
          <p:cNvPr id="4" name="links">
            <a:extLst xmlns:a="http://schemas.openxmlformats.org/drawingml/2006/main">
              <a:ext uri="{FF2B5EF4-FFF2-40B4-BE49-F238E27FC236}">
                <a16:creationId xmlns:a16="http://schemas.microsoft.com/office/drawing/2014/main" id="{4BD15DE7-92B2-4148-BB52-1BE2F4B1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Demo: zemeng2015.github.io/enterprise-ai-engineering-orchestrator</a:t>
            </a:r>
          </a:p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Repo: github.com/zemeng2015/enterprise-ai-engineering-orchestrator</a:t>
            </a:r>
          </a:p>
        </p:txBody>
      </p:sp>
      <p:sp>
        <p:nvSpPr>
          <p:cNvPr id="5" name="screenshot-frame">
            <a:extLst xmlns:a="http://schemas.openxmlformats.org/drawingml/2006/main">
              <a:ext uri="{FF2B5EF4-FFF2-40B4-BE49-F238E27FC236}">
                <a16:creationId xmlns:a16="http://schemas.microsoft.com/office/drawing/2014/main" id="{0EBCD3B1-48C9-4821-B9FE-C796B746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838200"/>
            <a:ext cx="514350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7cf58633314650"/>
          <a:stretch xmlns:a="http://schemas.openxmlformats.org/drawingml/2006/main"/>
        </p:blipFill>
        <p:spPr>
          <a:xfrm xmlns:a="http://schemas.openxmlformats.org/drawingml/2006/main">
            <a:off x="6912264" y="1028700"/>
            <a:ext cx="4082472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status-chip">
            <a:extLst xmlns:a="http://schemas.openxmlformats.org/drawingml/2006/main">
              <a:ext uri="{FF2B5EF4-FFF2-40B4-BE49-F238E27FC236}">
                <a16:creationId xmlns:a16="http://schemas.microsoft.com/office/drawing/2014/main" id="{1C65DFB0-69BC-4201-B72C-A4A7630A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57750"/>
            <a:ext cx="5143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8" name="status">
            <a:extLst xmlns:a="http://schemas.openxmlformats.org/drawingml/2006/main">
              <a:ext uri="{FF2B5EF4-FFF2-40B4-BE49-F238E27FC236}">
                <a16:creationId xmlns:a16="http://schemas.microsoft.com/office/drawing/2014/main" id="{5C75B9C8-0ADD-4BFE-83B8-05E10B06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482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65F46"/>
                </a:solidFill>
                <a:latin typeface="Aptos"/>
                <a:ea typeface="Aptos"/>
                <a:cs typeface="Aptos"/>
              </a:rPr>
              <a:t>Status: public MVP shipped; UiPath Labs access request submitted; Test Cloud connection is the next integration step.</a:t>
            </a:r>
          </a:p>
        </p:txBody>
      </p:sp>
      <p:sp>
        <p:nvSpPr>
          <p:cNvPr id="9" name="footer-1">
            <a:extLst xmlns:a="http://schemas.openxmlformats.org/drawingml/2006/main">
              <a:ext uri="{FF2B5EF4-FFF2-40B4-BE49-F238E27FC236}">
                <a16:creationId xmlns:a16="http://schemas.microsoft.com/office/drawing/2014/main" id="{C3F17E92-D861-4F39-9638-3DBEEEA5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Enterprise AI Orchestrator for UiPath | Public MVP + pending UiPath Labs integration</a:t>
            </a:r>
          </a:p>
        </p:txBody>
      </p:sp>
      <p:sp>
        <p:nvSpPr>
          <p:cNvPr id="10" name="page-1">
            <a:extLst xmlns:a="http://schemas.openxmlformats.org/drawingml/2006/main">
              <a:ext uri="{FF2B5EF4-FFF2-40B4-BE49-F238E27FC236}">
                <a16:creationId xmlns:a16="http://schemas.microsoft.com/office/drawing/2014/main" id="{AFB9497E-845E-4570-8BBF-9D7D0876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15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025803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981169AB-A464-439E-B5F1-15020B2C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Enterprise release automation is still fragmented</a:t>
            </a:r>
          </a:p>
        </p:txBody>
      </p:sp>
      <p:sp>
        <p:nvSpPr>
          <p:cNvPr id="2" name="problem-dot-1">
            <a:extLst xmlns:a="http://schemas.openxmlformats.org/drawingml/2006/main">
              <a:ext uri="{FF2B5EF4-FFF2-40B4-BE49-F238E27FC236}">
                <a16:creationId xmlns:a16="http://schemas.microsoft.com/office/drawing/2014/main" id="{C43460BC-17ED-4F2A-B47A-74FF3884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" name="problem-item-1">
            <a:extLst xmlns:a="http://schemas.openxmlformats.org/drawingml/2006/main">
              <a:ext uri="{FF2B5EF4-FFF2-40B4-BE49-F238E27FC236}">
                <a16:creationId xmlns:a16="http://schemas.microsoft.com/office/drawing/2014/main" id="{9DE1696B-E7E0-4846-AFB6-50A4EAFA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002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E293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E293B"/>
                </a:solidFill>
                <a:latin typeface="Aptos"/>
                <a:ea typeface="Aptos"/>
                <a:cs typeface="Aptos"/>
              </a:rPr>
              <a:t>Risk signals live across repositories, CI logs, tickets, and human review threads.</a:t>
            </a:r>
          </a:p>
        </p:txBody>
      </p:sp>
      <p:sp>
        <p:nvSpPr>
          <p:cNvPr id="4" name="problem-dot-2">
            <a:extLst xmlns:a="http://schemas.openxmlformats.org/drawingml/2006/main">
              <a:ext uri="{FF2B5EF4-FFF2-40B4-BE49-F238E27FC236}">
                <a16:creationId xmlns:a16="http://schemas.microsoft.com/office/drawing/2014/main" id="{DF0EAE88-E3D7-4E7B-9F16-242DFCC8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86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problem-item-2">
            <a:extLst xmlns:a="http://schemas.openxmlformats.org/drawingml/2006/main">
              <a:ext uri="{FF2B5EF4-FFF2-40B4-BE49-F238E27FC236}">
                <a16:creationId xmlns:a16="http://schemas.microsoft.com/office/drawing/2014/main" id="{5DE56C5E-160F-4BA9-AE39-D147829B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E293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E293B"/>
                </a:solidFill>
                <a:latin typeface="Aptos"/>
                <a:ea typeface="Aptos"/>
                <a:cs typeface="Aptos"/>
              </a:rPr>
              <a:t>QA teams need generated tests, but also need auditability before automation acts.</a:t>
            </a:r>
          </a:p>
        </p:txBody>
      </p:sp>
      <p:sp>
        <p:nvSpPr>
          <p:cNvPr id="6" name="problem-dot-3">
            <a:extLst xmlns:a="http://schemas.openxmlformats.org/drawingml/2006/main">
              <a:ext uri="{FF2B5EF4-FFF2-40B4-BE49-F238E27FC236}">
                <a16:creationId xmlns:a16="http://schemas.microsoft.com/office/drawing/2014/main" id="{87B483A2-94B4-4D16-A75C-5E483066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86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7" name="problem-item-3">
            <a:extLst xmlns:a="http://schemas.openxmlformats.org/drawingml/2006/main">
              <a:ext uri="{FF2B5EF4-FFF2-40B4-BE49-F238E27FC236}">
                <a16:creationId xmlns:a16="http://schemas.microsoft.com/office/drawing/2014/main" id="{8AB08C82-30A1-4649-BE81-AE6F2BF7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E293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E293B"/>
                </a:solidFill>
                <a:latin typeface="Aptos"/>
                <a:ea typeface="Aptos"/>
                <a:cs typeface="Aptos"/>
              </a:rPr>
              <a:t>Approvals are often manual, disconnected from the evidence that justified them.</a:t>
            </a:r>
          </a:p>
        </p:txBody>
      </p:sp>
      <p:sp>
        <p:nvSpPr>
          <p:cNvPr id="8" name="pain-box">
            <a:extLst xmlns:a="http://schemas.openxmlformats.org/drawingml/2006/main">
              <a:ext uri="{FF2B5EF4-FFF2-40B4-BE49-F238E27FC236}">
                <a16:creationId xmlns:a16="http://schemas.microsoft.com/office/drawing/2014/main" id="{C2A921F5-E7B0-4EC9-8EE7-E4CCFCA6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3048000" cy="31432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pain-label">
            <a:extLst xmlns:a="http://schemas.openxmlformats.org/drawingml/2006/main">
              <a:ext uri="{FF2B5EF4-FFF2-40B4-BE49-F238E27FC236}">
                <a16:creationId xmlns:a16="http://schemas.microsoft.com/office/drawing/2014/main" id="{4FCEF95F-7CA6-4C55-94FB-5C6214B1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Target workflow</a:t>
            </a:r>
          </a:p>
        </p:txBody>
      </p:sp>
      <p:sp>
        <p:nvSpPr>
          <p:cNvPr id="10" name="pain-copy">
            <a:extLst xmlns:a="http://schemas.openxmlformats.org/drawingml/2006/main">
              <a:ext uri="{FF2B5EF4-FFF2-40B4-BE49-F238E27FC236}">
                <a16:creationId xmlns:a16="http://schemas.microsoft.com/office/drawing/2014/main" id="{7D72B65E-43EA-4F48-814E-96999D87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0300"/>
            <a:ext cx="247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release-readiness assistant that turns evidence into suggested tests, explains risk, and waits for an accountable human decision.</a:t>
            </a:r>
          </a:p>
        </p:txBody>
      </p:sp>
      <p:sp>
        <p:nvSpPr>
          <p:cNvPr id="11" name="footer-2">
            <a:extLst xmlns:a="http://schemas.openxmlformats.org/drawingml/2006/main">
              <a:ext uri="{FF2B5EF4-FFF2-40B4-BE49-F238E27FC236}">
                <a16:creationId xmlns:a16="http://schemas.microsoft.com/office/drawing/2014/main" id="{A902C3BE-AF41-4EBC-9CD6-A93D8765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Enterprise AI Orchestrator for UiPath | Public MVP + pending UiPath Labs integration</a:t>
            </a:r>
          </a:p>
        </p:txBody>
      </p:sp>
      <p:sp>
        <p:nvSpPr>
          <p:cNvPr id="12" name="page-2">
            <a:extLst xmlns:a="http://schemas.openxmlformats.org/drawingml/2006/main">
              <a:ext uri="{FF2B5EF4-FFF2-40B4-BE49-F238E27FC236}">
                <a16:creationId xmlns:a16="http://schemas.microsoft.com/office/drawing/2014/main" id="{17A5F7A4-454C-48A7-912C-321397BA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15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49616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7118E59A-C089-4D42-834F-80AA1D01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UiPath fit: governed agents plus executable validation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255D029B-3911-4CA6-B300-BE05CEB5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57350"/>
            <a:ext cx="2381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3" name="flow-head-1">
            <a:extLst xmlns:a="http://schemas.openxmlformats.org/drawingml/2006/main">
              <a:ext uri="{FF2B5EF4-FFF2-40B4-BE49-F238E27FC236}">
                <a16:creationId xmlns:a16="http://schemas.microsoft.com/office/drawing/2014/main" id="{70DACE03-31D0-474B-B24D-99898A1B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1. Sense</a:t>
            </a:r>
          </a:p>
        </p:txBody>
      </p:sp>
      <p:sp>
        <p:nvSpPr>
          <p:cNvPr id="4" name="flow-body-1">
            <a:extLst xmlns:a="http://schemas.openxmlformats.org/drawingml/2006/main">
              <a:ext uri="{FF2B5EF4-FFF2-40B4-BE49-F238E27FC236}">
                <a16:creationId xmlns:a16="http://schemas.microsoft.com/office/drawing/2014/main" id="{CC1276E1-E590-4004-8B29-83A07141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1962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Repository changes, CI failures, ownership, and release context enter the workflow.</a:t>
            </a:r>
          </a:p>
        </p:txBody>
      </p:sp>
      <p:sp>
        <p:nvSpPr>
          <p:cNvPr id="5" name="arrow-1">
            <a:extLst xmlns:a="http://schemas.openxmlformats.org/drawingml/2006/main">
              <a:ext uri="{FF2B5EF4-FFF2-40B4-BE49-F238E27FC236}">
                <a16:creationId xmlns:a16="http://schemas.microsoft.com/office/drawing/2014/main" id="{BAD26D41-454E-417A-9520-991EB37E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146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6" name="flow-2">
            <a:extLst xmlns:a="http://schemas.openxmlformats.org/drawingml/2006/main">
              <a:ext uri="{FF2B5EF4-FFF2-40B4-BE49-F238E27FC236}">
                <a16:creationId xmlns:a16="http://schemas.microsoft.com/office/drawing/2014/main" id="{A6D26B57-1507-454D-AD11-6BB0DD62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657350"/>
            <a:ext cx="2381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7" name="flow-head-2">
            <a:extLst xmlns:a="http://schemas.openxmlformats.org/drawingml/2006/main">
              <a:ext uri="{FF2B5EF4-FFF2-40B4-BE49-F238E27FC236}">
                <a16:creationId xmlns:a16="http://schemas.microsoft.com/office/drawing/2014/main" id="{C865D866-9E52-4AEB-8855-A35E40BF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621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2. Decide</a:t>
            </a:r>
          </a:p>
        </p:txBody>
      </p:sp>
      <p:sp>
        <p:nvSpPr>
          <p:cNvPr id="8" name="flow-body-2">
            <a:extLst xmlns:a="http://schemas.openxmlformats.org/drawingml/2006/main">
              <a:ext uri="{FF2B5EF4-FFF2-40B4-BE49-F238E27FC236}">
                <a16:creationId xmlns:a16="http://schemas.microsoft.com/office/drawing/2014/main" id="{05D7DC00-CF66-434E-99F7-D55A14DD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57450"/>
            <a:ext cx="1962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The orchestrator explains risk and proposes generated test coverage.</a:t>
            </a:r>
          </a:p>
        </p:txBody>
      </p:sp>
      <p:sp>
        <p:nvSpPr>
          <p:cNvPr id="9" name="arrow-2">
            <a:extLst xmlns:a="http://schemas.openxmlformats.org/drawingml/2006/main">
              <a:ext uri="{FF2B5EF4-FFF2-40B4-BE49-F238E27FC236}">
                <a16:creationId xmlns:a16="http://schemas.microsoft.com/office/drawing/2014/main" id="{DA88E98A-1A1E-4F50-AB5C-6E971F6B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146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0" name="flow-3">
            <a:extLst xmlns:a="http://schemas.openxmlformats.org/drawingml/2006/main">
              <a:ext uri="{FF2B5EF4-FFF2-40B4-BE49-F238E27FC236}">
                <a16:creationId xmlns:a16="http://schemas.microsoft.com/office/drawing/2014/main" id="{EBA457B6-9FEA-4FFB-ACC1-64D9BF86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57350"/>
            <a:ext cx="2381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flow-head-3">
            <a:extLst xmlns:a="http://schemas.openxmlformats.org/drawingml/2006/main">
              <a:ext uri="{FF2B5EF4-FFF2-40B4-BE49-F238E27FC236}">
                <a16:creationId xmlns:a16="http://schemas.microsoft.com/office/drawing/2014/main" id="{E731787C-F0EA-47C9-A044-5E7ED0B1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621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3. Act</a:t>
            </a:r>
          </a:p>
        </p:txBody>
      </p:sp>
      <p:sp>
        <p:nvSpPr>
          <p:cNvPr id="12" name="flow-body-3">
            <a:extLst xmlns:a="http://schemas.openxmlformats.org/drawingml/2006/main">
              <a:ext uri="{FF2B5EF4-FFF2-40B4-BE49-F238E27FC236}">
                <a16:creationId xmlns:a16="http://schemas.microsoft.com/office/drawing/2014/main" id="{EAB0525E-9229-4065-BBFD-DC43DDAA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57450"/>
            <a:ext cx="1962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UiPath Test Cloud can execute approved validation paths once sandbox access is available.</a:t>
            </a:r>
          </a:p>
        </p:txBody>
      </p:sp>
      <p:sp>
        <p:nvSpPr>
          <p:cNvPr id="13" name="arrow-3">
            <a:extLst xmlns:a="http://schemas.openxmlformats.org/drawingml/2006/main">
              <a:ext uri="{FF2B5EF4-FFF2-40B4-BE49-F238E27FC236}">
                <a16:creationId xmlns:a16="http://schemas.microsoft.com/office/drawing/2014/main" id="{021A67AB-5409-43ED-8B76-B719AD98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146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4" name="flow-4">
            <a:extLst xmlns:a="http://schemas.openxmlformats.org/drawingml/2006/main">
              <a:ext uri="{FF2B5EF4-FFF2-40B4-BE49-F238E27FC236}">
                <a16:creationId xmlns:a16="http://schemas.microsoft.com/office/drawing/2014/main" id="{061BB56C-78E3-42C9-A85C-2D080F41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657350"/>
            <a:ext cx="2381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5" name="flow-head-4">
            <a:extLst xmlns:a="http://schemas.openxmlformats.org/drawingml/2006/main">
              <a:ext uri="{FF2B5EF4-FFF2-40B4-BE49-F238E27FC236}">
                <a16:creationId xmlns:a16="http://schemas.microsoft.com/office/drawing/2014/main" id="{F544C641-3C87-49FB-9326-A1AD9C35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9621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4. Audit</a:t>
            </a:r>
          </a:p>
        </p:txBody>
      </p:sp>
      <p:sp>
        <p:nvSpPr>
          <p:cNvPr id="16" name="flow-body-4">
            <a:extLst xmlns:a="http://schemas.openxmlformats.org/drawingml/2006/main">
              <a:ext uri="{FF2B5EF4-FFF2-40B4-BE49-F238E27FC236}">
                <a16:creationId xmlns:a16="http://schemas.microsoft.com/office/drawing/2014/main" id="{74CA5134-2F74-4019-AF8F-EC4EF4B6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57450"/>
            <a:ext cx="1962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Every recommendation and approval remains visible for release governance.</a:t>
            </a:r>
          </a:p>
        </p:txBody>
      </p:sp>
      <p:sp>
        <p:nvSpPr>
          <p:cNvPr id="17" name="agent-type">
            <a:extLst xmlns:a="http://schemas.openxmlformats.org/drawingml/2006/main">
              <a:ext uri="{FF2B5EF4-FFF2-40B4-BE49-F238E27FC236}">
                <a16:creationId xmlns:a16="http://schemas.microsoft.com/office/drawing/2014/main" id="{7E86822A-4CFC-417A-857B-A9AB5016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476750"/>
            <a:ext cx="80391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67E8F9"/>
            </a:solidFill>
            <a:prstDash val="solid"/>
          </a:ln>
        </p:spPr>
      </p:sp>
      <p:sp>
        <p:nvSpPr>
          <p:cNvPr id="18" name="agent-copy">
            <a:extLst xmlns:a="http://schemas.openxmlformats.org/drawingml/2006/main">
              <a:ext uri="{FF2B5EF4-FFF2-40B4-BE49-F238E27FC236}">
                <a16:creationId xmlns:a16="http://schemas.microsoft.com/office/drawing/2014/main" id="{EBED3887-F5A7-4CD0-A5C4-2F9511ED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05350"/>
            <a:ext cx="739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5E7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55E75"/>
                </a:solidFill>
                <a:latin typeface="Aptos"/>
                <a:ea typeface="Aptos"/>
                <a:cs typeface="Aptos"/>
              </a:rPr>
              <a:t>Agent type: planned hybrid implementation: low-code UiPath orchestration around a coded TypeScript release-risk engine and generated QA recommendations.</a:t>
            </a:r>
          </a:p>
        </p:txBody>
      </p:sp>
      <p:sp>
        <p:nvSpPr>
          <p:cNvPr id="19" name="footer-3">
            <a:extLst xmlns:a="http://schemas.openxmlformats.org/drawingml/2006/main">
              <a:ext uri="{FF2B5EF4-FFF2-40B4-BE49-F238E27FC236}">
                <a16:creationId xmlns:a16="http://schemas.microsoft.com/office/drawing/2014/main" id="{C1367523-C480-40D4-96DF-609D23E3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Enterprise AI Orchestrator for UiPath | Public MVP + pending UiPath Labs integration</a:t>
            </a:r>
          </a:p>
        </p:txBody>
      </p:sp>
      <p:sp>
        <p:nvSpPr>
          <p:cNvPr id="20" name="page-3">
            <a:extLst xmlns:a="http://schemas.openxmlformats.org/drawingml/2006/main">
              <a:ext uri="{FF2B5EF4-FFF2-40B4-BE49-F238E27FC236}">
                <a16:creationId xmlns:a16="http://schemas.microsoft.com/office/drawing/2014/main" id="{B0EA83DB-A4A8-400B-AB2A-777B3E53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15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301057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D80B4A99-134C-4CED-A2E6-DD6270F6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What is implemented in the public MVP</a:t>
            </a:r>
          </a:p>
        </p:txBody>
      </p:sp>
      <p:sp>
        <p:nvSpPr>
          <p:cNvPr id="2" name="mvp-dot-1">
            <a:extLst xmlns:a="http://schemas.openxmlformats.org/drawingml/2006/main">
              <a:ext uri="{FF2B5EF4-FFF2-40B4-BE49-F238E27FC236}">
                <a16:creationId xmlns:a16="http://schemas.microsoft.com/office/drawing/2014/main" id="{7761AB22-7334-4D2D-A0EE-90BA0D5B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mvp-item-1">
            <a:extLst xmlns:a="http://schemas.openxmlformats.org/drawingml/2006/main">
              <a:ext uri="{FF2B5EF4-FFF2-40B4-BE49-F238E27FC236}">
                <a16:creationId xmlns:a16="http://schemas.microsoft.com/office/drawing/2014/main" id="{1F280B6A-90FF-46EF-B6CB-6ABCAC85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859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E293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E293B"/>
                </a:solidFill>
                <a:latin typeface="Aptos"/>
                <a:ea typeface="Aptos"/>
                <a:cs typeface="Aptos"/>
              </a:rPr>
              <a:t>Responsive React/TypeScript demo deployed on GitHub Pages.</a:t>
            </a:r>
          </a:p>
        </p:txBody>
      </p:sp>
      <p:sp>
        <p:nvSpPr>
          <p:cNvPr id="4" name="mvp-dot-2">
            <a:extLst xmlns:a="http://schemas.openxmlformats.org/drawingml/2006/main">
              <a:ext uri="{FF2B5EF4-FFF2-40B4-BE49-F238E27FC236}">
                <a16:creationId xmlns:a16="http://schemas.microsoft.com/office/drawing/2014/main" id="{C0DA4104-A6C5-4AE6-8465-E8F5331A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7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5" name="mvp-item-2">
            <a:extLst xmlns:a="http://schemas.openxmlformats.org/drawingml/2006/main">
              <a:ext uri="{FF2B5EF4-FFF2-40B4-BE49-F238E27FC236}">
                <a16:creationId xmlns:a16="http://schemas.microsoft.com/office/drawing/2014/main" id="{610C066B-A734-44E4-AA51-9D7BA210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E293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E293B"/>
                </a:solidFill>
                <a:latin typeface="Aptos"/>
                <a:ea typeface="Aptos"/>
                <a:cs typeface="Aptos"/>
              </a:rPr>
              <a:t>Simulated repository and CI signals converted into release-risk decisions.</a:t>
            </a:r>
          </a:p>
        </p:txBody>
      </p:sp>
      <p:sp>
        <p:nvSpPr>
          <p:cNvPr id="6" name="mvp-dot-3">
            <a:extLst xmlns:a="http://schemas.openxmlformats.org/drawingml/2006/main">
              <a:ext uri="{FF2B5EF4-FFF2-40B4-BE49-F238E27FC236}">
                <a16:creationId xmlns:a16="http://schemas.microsoft.com/office/drawing/2014/main" id="{8A767625-A60F-4E73-9A34-C2498E50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81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7" name="mvp-item-3">
            <a:extLst xmlns:a="http://schemas.openxmlformats.org/drawingml/2006/main">
              <a:ext uri="{FF2B5EF4-FFF2-40B4-BE49-F238E27FC236}">
                <a16:creationId xmlns:a16="http://schemas.microsoft.com/office/drawing/2014/main" id="{D05F9880-455D-4847-9A95-0B9551BD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956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E293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E293B"/>
                </a:solidFill>
                <a:latin typeface="Aptos"/>
                <a:ea typeface="Aptos"/>
                <a:cs typeface="Aptos"/>
              </a:rPr>
              <a:t>Generated test recommendations with an explicit human approval queue.</a:t>
            </a:r>
          </a:p>
        </p:txBody>
      </p:sp>
      <p:sp>
        <p:nvSpPr>
          <p:cNvPr id="8" name="mvp-dot-4">
            <a:extLst xmlns:a="http://schemas.openxmlformats.org/drawingml/2006/main">
              <a:ext uri="{FF2B5EF4-FFF2-40B4-BE49-F238E27FC236}">
                <a16:creationId xmlns:a16="http://schemas.microsoft.com/office/drawing/2014/main" id="{C305A0AB-3BCF-41D3-B925-373DB220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64748B"/>
            </a:solidFill>
            <a:prstDash val="solid"/>
          </a:ln>
        </p:spPr>
      </p:sp>
      <p:sp>
        <p:nvSpPr>
          <p:cNvPr id="9" name="mvp-item-4">
            <a:extLst xmlns:a="http://schemas.openxmlformats.org/drawingml/2006/main">
              <a:ext uri="{FF2B5EF4-FFF2-40B4-BE49-F238E27FC236}">
                <a16:creationId xmlns:a16="http://schemas.microsoft.com/office/drawing/2014/main" id="{EC0F9568-12D7-4CFD-BDBE-8F5CDF8D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E293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E293B"/>
                </a:solidFill>
                <a:latin typeface="Aptos"/>
                <a:ea typeface="Aptos"/>
                <a:cs typeface="Aptos"/>
              </a:rPr>
              <a:t>Submission packet, source archive, and demo video draft already prepared.</a:t>
            </a:r>
          </a:p>
        </p:txBody>
      </p:sp>
      <p:sp>
        <p:nvSpPr>
          <p:cNvPr id="10" name="repo-box">
            <a:extLst xmlns:a="http://schemas.openxmlformats.org/drawingml/2006/main">
              <a:ext uri="{FF2B5EF4-FFF2-40B4-BE49-F238E27FC236}">
                <a16:creationId xmlns:a16="http://schemas.microsoft.com/office/drawing/2014/main" id="{19481C37-E222-4DF5-A4BE-9DDF76D5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3429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repo-title">
            <a:extLst xmlns:a="http://schemas.openxmlformats.org/drawingml/2006/main">
              <a:ext uri="{FF2B5EF4-FFF2-40B4-BE49-F238E27FC236}">
                <a16:creationId xmlns:a16="http://schemas.microsoft.com/office/drawing/2014/main" id="{10822699-A923-454F-9BBF-014809BF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240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Repository includes</a:t>
            </a:r>
          </a:p>
        </p:txBody>
      </p:sp>
      <p:sp>
        <p:nvSpPr>
          <p:cNvPr id="12" name="repo-body">
            <a:extLst xmlns:a="http://schemas.openxmlformats.org/drawingml/2006/main">
              <a:ext uri="{FF2B5EF4-FFF2-40B4-BE49-F238E27FC236}">
                <a16:creationId xmlns:a16="http://schemas.microsoft.com/office/drawing/2014/main" id="{DFFF8AAC-2091-474C-B951-9A9C1A03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3840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README</a:t>
            </a:r>
          </a:p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Setup instructions</a:t>
            </a:r>
          </a:p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Devpost draft copy</a:t>
            </a:r>
          </a:p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Deployment notes</a:t>
            </a:r>
          </a:p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Preflight script</a:t>
            </a:r>
          </a:p>
        </p:txBody>
      </p:sp>
      <p:sp>
        <p:nvSpPr>
          <p:cNvPr id="13" name="footer-4">
            <a:extLst xmlns:a="http://schemas.openxmlformats.org/drawingml/2006/main">
              <a:ext uri="{FF2B5EF4-FFF2-40B4-BE49-F238E27FC236}">
                <a16:creationId xmlns:a16="http://schemas.microsoft.com/office/drawing/2014/main" id="{AB1A7778-D9D2-47A2-82D4-91DF8988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Enterprise AI Orchestrator for UiPath | Public MVP + pending UiPath Labs integration</a:t>
            </a:r>
          </a:p>
        </p:txBody>
      </p:sp>
      <p:sp>
        <p:nvSpPr>
          <p:cNvPr id="14" name="page-4">
            <a:extLst xmlns:a="http://schemas.openxmlformats.org/drawingml/2006/main">
              <a:ext uri="{FF2B5EF4-FFF2-40B4-BE49-F238E27FC236}">
                <a16:creationId xmlns:a16="http://schemas.microsoft.com/office/drawing/2014/main" id="{1BC53F45-30E1-4C40-93F0-B12D8089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15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63105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2FC897AD-F10C-4F1C-AD66-4FBA5C4A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Submission readiness and remaining integration path</a:t>
            </a:r>
          </a:p>
        </p:txBody>
      </p:sp>
      <p:sp>
        <p:nvSpPr>
          <p:cNvPr id="2" name="ready-1">
            <a:extLst xmlns:a="http://schemas.openxmlformats.org/drawingml/2006/main">
              <a:ext uri="{FF2B5EF4-FFF2-40B4-BE49-F238E27FC236}">
                <a16:creationId xmlns:a16="http://schemas.microsoft.com/office/drawing/2014/main" id="{B0FD86CC-1FB1-444B-A319-89DDC6E4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24000"/>
            <a:ext cx="10096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" name="ready-head-1">
            <a:extLst xmlns:a="http://schemas.openxmlformats.org/drawingml/2006/main">
              <a:ext uri="{FF2B5EF4-FFF2-40B4-BE49-F238E27FC236}">
                <a16:creationId xmlns:a16="http://schemas.microsoft.com/office/drawing/2014/main" id="{765AEDCF-5A31-424B-8289-CF4B9F39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907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B98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B98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4" name="ready-body-1">
            <a:extLst xmlns:a="http://schemas.openxmlformats.org/drawingml/2006/main">
              <a:ext uri="{FF2B5EF4-FFF2-40B4-BE49-F238E27FC236}">
                <a16:creationId xmlns:a16="http://schemas.microsoft.com/office/drawing/2014/main" id="{FA290565-FE4C-441F-AD1F-507518A0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52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Public demo, source repository, UiPath Labs access request, Devpost overview/details draft.</a:t>
            </a:r>
          </a:p>
        </p:txBody>
      </p:sp>
      <p:sp>
        <p:nvSpPr>
          <p:cNvPr id="5" name="ready-2">
            <a:extLst xmlns:a="http://schemas.openxmlformats.org/drawingml/2006/main">
              <a:ext uri="{FF2B5EF4-FFF2-40B4-BE49-F238E27FC236}">
                <a16:creationId xmlns:a16="http://schemas.microsoft.com/office/drawing/2014/main" id="{11BE87E8-6AD9-448B-8432-ECEE8187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10096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ready-head-2">
            <a:extLst xmlns:a="http://schemas.openxmlformats.org/drawingml/2006/main">
              <a:ext uri="{FF2B5EF4-FFF2-40B4-BE49-F238E27FC236}">
                <a16:creationId xmlns:a16="http://schemas.microsoft.com/office/drawing/2014/main" id="{7F33E62F-CEB9-4E2D-BBD9-31E1D076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289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Pending</a:t>
            </a:r>
          </a:p>
        </p:txBody>
      </p:sp>
      <p:sp>
        <p:nvSpPr>
          <p:cNvPr id="7" name="ready-body-2">
            <a:extLst xmlns:a="http://schemas.openxmlformats.org/drawingml/2006/main">
              <a:ext uri="{FF2B5EF4-FFF2-40B4-BE49-F238E27FC236}">
                <a16:creationId xmlns:a16="http://schemas.microsoft.com/office/drawing/2014/main" id="{9D1BA96B-F5D4-4607-A130-D33BEDC7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908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UiPath Labs sandbox URL and real Test Cloud execution proof.</a:t>
            </a:r>
          </a:p>
        </p:txBody>
      </p:sp>
      <p:sp>
        <p:nvSpPr>
          <p:cNvPr id="8" name="ready-3">
            <a:extLst xmlns:a="http://schemas.openxmlformats.org/drawingml/2006/main">
              <a:ext uri="{FF2B5EF4-FFF2-40B4-BE49-F238E27FC236}">
                <a16:creationId xmlns:a16="http://schemas.microsoft.com/office/drawing/2014/main" id="{3132FED3-631F-4672-8598-F5C02792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10096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ready-head-3">
            <a:extLst xmlns:a="http://schemas.openxmlformats.org/drawingml/2006/main">
              <a:ext uri="{FF2B5EF4-FFF2-40B4-BE49-F238E27FC236}">
                <a16:creationId xmlns:a16="http://schemas.microsoft.com/office/drawing/2014/main" id="{DAB5E420-F86B-426B-9E9C-0F8D540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672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0" name="ready-body-3">
            <a:extLst xmlns:a="http://schemas.openxmlformats.org/drawingml/2006/main">
              <a:ext uri="{FF2B5EF4-FFF2-40B4-BE49-F238E27FC236}">
                <a16:creationId xmlns:a16="http://schemas.microsoft.com/office/drawing/2014/main" id="{7E72B875-C87A-40CA-B221-94FED487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291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Replace simulated execution adapter with UiPath environment calls, then finalize Devpost.</a:t>
            </a:r>
          </a:p>
        </p:txBody>
      </p:sp>
      <p:sp>
        <p:nvSpPr>
          <p:cNvPr id="11" name="closing">
            <a:extLst xmlns:a="http://schemas.openxmlformats.org/drawingml/2006/main">
              <a:ext uri="{FF2B5EF4-FFF2-40B4-BE49-F238E27FC236}">
                <a16:creationId xmlns:a16="http://schemas.microsoft.com/office/drawing/2014/main" id="{74950E6D-1035-46BA-87DF-B150B55D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7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This is intentionally a governed automation submission: the MVP shows the decision layer now, while UiPath Labs access unlocks the execution layer for final judging.</a:t>
            </a:r>
          </a:p>
        </p:txBody>
      </p:sp>
      <p:sp>
        <p:nvSpPr>
          <p:cNvPr id="12" name="footer-5">
            <a:extLst xmlns:a="http://schemas.openxmlformats.org/drawingml/2006/main">
              <a:ext uri="{FF2B5EF4-FFF2-40B4-BE49-F238E27FC236}">
                <a16:creationId xmlns:a16="http://schemas.microsoft.com/office/drawing/2014/main" id="{5AFED97B-55A6-4151-AAC2-DEC1DB13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Enterprise AI Orchestrator for UiPath | Public MVP + pending UiPath Labs integration</a:t>
            </a:r>
          </a:p>
        </p:txBody>
      </p:sp>
      <p:sp>
        <p:nvSpPr>
          <p:cNvPr id="13" name="page-5">
            <a:extLst xmlns:a="http://schemas.openxmlformats.org/drawingml/2006/main">
              <a:ext uri="{FF2B5EF4-FFF2-40B4-BE49-F238E27FC236}">
                <a16:creationId xmlns:a16="http://schemas.microsoft.com/office/drawing/2014/main" id="{074C1F42-233D-4711-9326-74A18EAB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15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6650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2026-06-17T05:56:41.3230000Z</dcterms:created>
  <dcterms:modified xsi:type="dcterms:W3CDTF">2026-06-17T05:56:41.3230000Z</dcterms:modified>
</coreProperties>
</file>